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858a8dda32499b" /><Relationship Type="http://schemas.openxmlformats.org/officeDocument/2006/relationships/extended-properties" Target="/docProps/app.xml" Id="R8aad26d7238d415b" /><Relationship Type="http://schemas.openxmlformats.org/officeDocument/2006/relationships/officeDocument" Target="/ppt/presentation.xml" Id="Re829fba24b8c4715" /></Relationships>
</file>

<file path=ppt/presentation.xml><?xml version="1.0" encoding="utf-8"?>
<p:presentation xmlns:p="http://schemas.openxmlformats.org/presentationml/2006/main">
  <p:sldMasterIdLst>
    <p:sldMasterId xmlns:r="http://schemas.openxmlformats.org/officeDocument/2006/relationships" id="2147483648" r:id="R93e5727a3f6f4a0a"/>
  </p:sldMasterIdLst>
  <p:notesMasterIdLst>
    <p:notesMasterId xmlns:r="http://schemas.openxmlformats.org/officeDocument/2006/relationships" r:id="R59dd26eb5546446f"/>
  </p:notesMasterIdLst>
  <p:sldIdLst>
    <p:sldId xmlns:r="http://schemas.openxmlformats.org/officeDocument/2006/relationships" id="256" r:id="Rbdc02369f9aa46d1"/>
    <p:sldId xmlns:r="http://schemas.openxmlformats.org/officeDocument/2006/relationships" id="257" r:id="Re20736bda8c74d63"/>
    <p:sldId xmlns:r="http://schemas.openxmlformats.org/officeDocument/2006/relationships" id="258" r:id="Raa7f0a30dacc4b70"/>
    <p:sldId xmlns:r="http://schemas.openxmlformats.org/officeDocument/2006/relationships" id="259" r:id="Rdb2adbcf7b334493"/>
    <p:sldId xmlns:r="http://schemas.openxmlformats.org/officeDocument/2006/relationships" id="260" r:id="R95a9262eefd24646"/>
    <p:sldId xmlns:r="http://schemas.openxmlformats.org/officeDocument/2006/relationships" id="261" r:id="Rae4e6f4d04ce4e6e"/>
    <p:sldId xmlns:r="http://schemas.openxmlformats.org/officeDocument/2006/relationships" id="262" r:id="R972339602b7446f3"/>
    <p:sldId xmlns:r="http://schemas.openxmlformats.org/officeDocument/2006/relationships" id="263" r:id="R853223b5f9794d29"/>
    <p:sldId xmlns:r="http://schemas.openxmlformats.org/officeDocument/2006/relationships" id="264" r:id="R5299300e5ebe45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562ef82c0b4b3e" /><Relationship Type="http://schemas.openxmlformats.org/officeDocument/2006/relationships/slideMaster" Target="/ppt/slideMasters/slideMaster1.xml" Id="R93e5727a3f6f4a0a" /><Relationship Type="http://schemas.openxmlformats.org/officeDocument/2006/relationships/notesMaster" Target="/ppt/notesMasters/notesMaster1.xml" Id="R59dd26eb5546446f" /><Relationship Type="http://schemas.openxmlformats.org/officeDocument/2006/relationships/presProps" Target="/ppt/presProps.xml" Id="R1976e4be92f64b2e" /><Relationship Type="http://schemas.openxmlformats.org/officeDocument/2006/relationships/tableStyles" Target="/ppt/tableStyles.xml" Id="R259108b4852840aa" /><Relationship Type="http://schemas.openxmlformats.org/officeDocument/2006/relationships/slide" Target="/ppt/slides/slide1.xml" Id="Rbdc02369f9aa46d1" /><Relationship Type="http://schemas.openxmlformats.org/officeDocument/2006/relationships/slide" Target="/ppt/slides/slide2.xml" Id="Re20736bda8c74d63" /><Relationship Type="http://schemas.openxmlformats.org/officeDocument/2006/relationships/slide" Target="/ppt/slides/slide3.xml" Id="Raa7f0a30dacc4b70" /><Relationship Type="http://schemas.openxmlformats.org/officeDocument/2006/relationships/slide" Target="/ppt/slides/slide4.xml" Id="Rdb2adbcf7b334493" /><Relationship Type="http://schemas.openxmlformats.org/officeDocument/2006/relationships/slide" Target="/ppt/slides/slide5.xml" Id="R95a9262eefd24646" /><Relationship Type="http://schemas.openxmlformats.org/officeDocument/2006/relationships/slide" Target="/ppt/slides/slide6.xml" Id="Rae4e6f4d04ce4e6e" /><Relationship Type="http://schemas.openxmlformats.org/officeDocument/2006/relationships/slide" Target="/ppt/slides/slide7.xml" Id="R972339602b7446f3" /><Relationship Type="http://schemas.openxmlformats.org/officeDocument/2006/relationships/slide" Target="/ppt/slides/slide8.xml" Id="R853223b5f9794d29" /><Relationship Type="http://schemas.openxmlformats.org/officeDocument/2006/relationships/slide" Target="/ppt/slides/slide9.xml" Id="R5299300e5ebe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a078702cb04b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79946ecb8a4b85" /><Relationship Type="http://schemas.openxmlformats.org/officeDocument/2006/relationships/notesMaster" Target="/ppt/notesMasters/notesMaster1.xml" Id="R7e548c89e1f04b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f86ee9cabc4306" /><Relationship Type="http://schemas.openxmlformats.org/officeDocument/2006/relationships/notesMaster" Target="/ppt/notesMasters/notesMaster1.xml" Id="R4cce5348a3e246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d0246caf344fae" /><Relationship Type="http://schemas.openxmlformats.org/officeDocument/2006/relationships/notesMaster" Target="/ppt/notesMasters/notesMaster1.xml" Id="R92797e32fa684a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7b28e54619495f" /><Relationship Type="http://schemas.openxmlformats.org/officeDocument/2006/relationships/notesMaster" Target="/ppt/notesMasters/notesMaster1.xml" Id="R39bde1e2eba84d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310425f5794c6b" /><Relationship Type="http://schemas.openxmlformats.org/officeDocument/2006/relationships/notesMaster" Target="/ppt/notesMasters/notesMaster1.xml" Id="R4c3df8291e884c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fb6a6f126e43e3" /><Relationship Type="http://schemas.openxmlformats.org/officeDocument/2006/relationships/notesMaster" Target="/ppt/notesMasters/notesMaster1.xml" Id="Re501a5dd490844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01806aa0fd4252" /><Relationship Type="http://schemas.openxmlformats.org/officeDocument/2006/relationships/notesMaster" Target="/ppt/notesMasters/notesMaster1.xml" Id="R8324146d47e5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87670f96d1427c" /><Relationship Type="http://schemas.openxmlformats.org/officeDocument/2006/relationships/notesMaster" Target="/ppt/notesMasters/notesMaster1.xml" Id="R61a4d2fe9bbf4f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0bebe9169e4885" /><Relationship Type="http://schemas.openxmlformats.org/officeDocument/2006/relationships/notesMaster" Target="/ppt/notesMasters/notesMaster1.xml" Id="R40c7835770c943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PLAN.md. Đây là bản nháp phương pháp, chưa phải bài nộp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PLAN.md mục 1, 2 và 9. Không suy diễn rubric ngoài tài liệu đã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https://huggingface.co/datasets/uitnlp/vihsd và PLAN.md mục 3. Ba tập đều giữ phân bố chính thức. Inventory local tìm được dev.csv và test.csv trong repository SafeView, chưa có train hoặc source revision đã xác minh.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src/safeview_ml/preprocessing.py, features.py và configs/experiments.yaml. Max_features áp dụng riêng cho từng nhánh.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configs/experiments.yaml và training.py. Đây là search hai giai đoạn, không phải toàn bộ tích Descartes. Tham khảo https://scikit-learn.org/stable/auto_examples/text/plot_document_classification_20newsgroups.html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https://scikit-learn.org/stable/modules/calibration.html và src/safeview_ml/models.py, training.py. Toàn pipeline nằm trong từng fold. Calibration mặc định 3 folds, ensemble=False.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https://scikit-learn.org/stable/modules/classification_threshold.html và src/safeview_ml/policy.py. Đây là tiêu chí demo mặc định, chưa phải tối ưu mọi chi phí sản phẩm.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PLAN.md mục 5; deploy/hf_space/app.py; docs/safeview-integration.md. Tích hợp thực tế cần artifact đã khóa và endpoint đang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PLAN.md mục 6, 8, 9. Bản nháp này không đáp ứng đầy đủ điều kiện nộp khi thiếu thực nghiệm ViHSD.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0652341c6446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090b0cc7ac4555" /><Relationship Type="http://schemas.openxmlformats.org/officeDocument/2006/relationships/slideLayout" Target="/ppt/slideLayouts/slideLayout1.xml" Id="Rbf5d3a81ca4748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5d3a81ca4748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6bb0409d264a19" /><Relationship Type="http://schemas.openxmlformats.org/officeDocument/2006/relationships/notesSlide" Target="/ppt/notesSlides/notesSlide1.xml" Id="R1f486aff71ca49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83495988e04f62" /><Relationship Type="http://schemas.openxmlformats.org/officeDocument/2006/relationships/notesSlide" Target="/ppt/notesSlides/notesSlide2.xml" Id="R611bc7a3c3a947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58a5922cc34d74" /><Relationship Type="http://schemas.openxmlformats.org/officeDocument/2006/relationships/notesSlide" Target="/ppt/notesSlides/notesSlide3.xml" Id="R8aa200db7e9f48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22a998be5241cd" /><Relationship Type="http://schemas.openxmlformats.org/officeDocument/2006/relationships/notesSlide" Target="/ppt/notesSlides/notesSlide4.xml" Id="R6c4af613b63543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d776e64c8a44d0" /><Relationship Type="http://schemas.openxmlformats.org/officeDocument/2006/relationships/notesSlide" Target="/ppt/notesSlides/notesSlide5.xml" Id="R6799519af64748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f5991d70dc4625" /><Relationship Type="http://schemas.openxmlformats.org/officeDocument/2006/relationships/notesSlide" Target="/ppt/notesSlides/notesSlide6.xml" Id="R9cd78838afd64d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bdb93499aa419f" /><Relationship Type="http://schemas.openxmlformats.org/officeDocument/2006/relationships/notesSlide" Target="/ppt/notesSlides/notesSlide7.xml" Id="R5e622358a15544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656001aa014081" /><Relationship Type="http://schemas.openxmlformats.org/officeDocument/2006/relationships/notesSlide" Target="/ppt/notesSlides/notesSlide8.xml" Id="Rf97e4e88855742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3a36ebb19f4052" /><Relationship Type="http://schemas.openxmlformats.org/officeDocument/2006/relationships/notesSlide" Target="/ppt/notesSlides/notesSlide9.xml" Id="R823f827571fb4163" /></Relationships>
</file>

<file path=ppt/slides/slide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C51D64-4981-4F2B-B4CB-29FB0F34F8C0}"/>
              </a:ext>
            </a:extLst>
          </p:cNvPr>
          <p:cNvSpPr>
            <a:spLocks xmlns:a="http://schemas.openxmlformats.org/drawingml/2006/main" noGrp="1"/>
          </p:cNvSpPr>
          <p:nvPr/>
        </p:nvSpPr>
        <p:spPr>
          <a:xfrm xmlns:a="http://schemas.openxmlformats.org/drawingml/2006/main">
            <a:off x="685800" y="1000125"/>
            <a:ext cx="10820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334B"/>
                </a:solidFill>
                <a:latin typeface="Arial"/>
                <a:ea typeface="Arial"/>
                <a:cs typeface="Arial"/>
              </a:defRPr>
            </a:pPr>
            <a:r>
              <a:rPr sz="4350" b="1">
                <a:solidFill>
                  <a:srgbClr val="17334B"/>
                </a:solidFill>
                <a:latin typeface="Arial"/>
                <a:ea typeface="Arial"/>
                <a:cs typeface="Arial"/>
              </a:rPr>
              <a:t>Phân loại bình luận</a:t>
            </a:r>
          </a:p>
          <a:p xmlns:a="http://schemas.openxmlformats.org/drawingml/2006/main">
            <a:pPr>
              <a:defRPr sz="4350" b="1">
                <a:solidFill>
                  <a:srgbClr val="17334B"/>
                </a:solidFill>
                <a:latin typeface="Arial"/>
                <a:ea typeface="Arial"/>
                <a:cs typeface="Arial"/>
              </a:defRPr>
            </a:pPr>
            <a:r>
              <a:rPr sz="4350" b="1">
                <a:solidFill>
                  <a:srgbClr val="17334B"/>
                </a:solidFill>
                <a:latin typeface="Arial"/>
                <a:ea typeface="Arial"/>
                <a:cs typeface="Arial"/>
              </a:rPr>
              <a:t>tiếng Việt cho SafeView</a:t>
            </a:r>
          </a:p>
        </p:txBody>
      </p:sp>
      <p:sp>
        <p:nvSpPr>
          <p:cNvPr id="2" name="">
            <a:extLst xmlns:a="http://schemas.openxmlformats.org/drawingml/2006/main">
              <a:ext uri="{FF2B5EF4-FFF2-40B4-BE49-F238E27FC236}">
                <a16:creationId xmlns:a16="http://schemas.microsoft.com/office/drawing/2014/main" id="{0E1BCF43-C4D3-448A-BBD4-7B7587BBF5EF}"/>
              </a:ext>
            </a:extLst>
          </p:cNvPr>
          <p:cNvSpPr>
            <a:spLocks xmlns:a="http://schemas.openxmlformats.org/drawingml/2006/main" noGrp="1"/>
          </p:cNvSpPr>
          <p:nvPr/>
        </p:nvSpPr>
        <p:spPr>
          <a:xfrm xmlns:a="http://schemas.openxmlformats.org/drawingml/2006/main">
            <a:off x="723900" y="32861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455D6F"/>
                </a:solidFill>
                <a:latin typeface="Arial"/>
                <a:ea typeface="Arial"/>
                <a:cs typeface="Arial"/>
              </a:defRPr>
            </a:pPr>
            <a:r>
              <a:rPr sz="1875" b="1">
                <a:solidFill>
                  <a:srgbClr val="455D6F"/>
                </a:solidFill>
                <a:latin typeface="Arial"/>
                <a:ea typeface="Arial"/>
                <a:cs typeface="Arial"/>
              </a:rPr>
              <a:t>BẢN NHÁP PHƯƠNG PHÁP</a:t>
            </a:r>
          </a:p>
        </p:txBody>
      </p:sp>
      <p:sp>
        <p:nvSpPr>
          <p:cNvPr id="3" name="">
            <a:extLst xmlns:a="http://schemas.openxmlformats.org/drawingml/2006/main">
              <a:ext uri="{FF2B5EF4-FFF2-40B4-BE49-F238E27FC236}">
                <a16:creationId xmlns:a16="http://schemas.microsoft.com/office/drawing/2014/main" id="{53194D2C-90EC-4AC0-B24D-78F6B2EC92AB}"/>
              </a:ext>
            </a:extLst>
          </p:cNvPr>
          <p:cNvSpPr>
            <a:spLocks xmlns:a="http://schemas.openxmlformats.org/drawingml/2006/main" noGrp="1"/>
          </p:cNvSpPr>
          <p:nvPr/>
        </p:nvSpPr>
        <p:spPr>
          <a:xfrm xmlns:a="http://schemas.openxmlformats.org/drawingml/2006/main">
            <a:off x="723900" y="38766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34B"/>
                </a:solidFill>
                <a:latin typeface="Arial"/>
                <a:ea typeface="Arial"/>
                <a:cs typeface="Arial"/>
              </a:defRPr>
            </a:pPr>
            <a:r>
              <a:rPr sz="2325" b="0">
                <a:solidFill>
                  <a:srgbClr val="17334B"/>
                </a:solidFill>
                <a:latin typeface="Arial"/>
                <a:ea typeface="Arial"/>
                <a:cs typeface="Arial"/>
              </a:rPr>
              <a:t>So sánh LinearSVC, Logistic Regression và ComplementNB</a:t>
            </a:r>
          </a:p>
        </p:txBody>
      </p:sp>
      <p:sp>
        <p:nvSpPr>
          <p:cNvPr id="4" name="">
            <a:extLst xmlns:a="http://schemas.openxmlformats.org/drawingml/2006/main">
              <a:ext uri="{FF2B5EF4-FFF2-40B4-BE49-F238E27FC236}">
                <a16:creationId xmlns:a16="http://schemas.microsoft.com/office/drawing/2014/main" id="{B4D6557B-6E0C-460E-848E-EBAE1B302CA0}"/>
              </a:ext>
            </a:extLst>
          </p:cNvPr>
          <p:cNvSpPr>
            <a:spLocks xmlns:a="http://schemas.openxmlformats.org/drawingml/2006/main" noGrp="1"/>
          </p:cNvSpPr>
          <p:nvPr/>
        </p:nvSpPr>
        <p:spPr>
          <a:xfrm xmlns:a="http://schemas.openxmlformats.org/drawingml/2006/main">
            <a:off x="723900" y="52673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55D6F"/>
                </a:solidFill>
                <a:latin typeface="Arial"/>
                <a:ea typeface="Arial"/>
                <a:cs typeface="Arial"/>
              </a:defRPr>
            </a:pPr>
            <a:r>
              <a:rPr sz="2100" b="1">
                <a:solidFill>
                  <a:srgbClr val="455D6F"/>
                </a:solidFill>
                <a:latin typeface="Arial"/>
                <a:ea typeface="Arial"/>
                <a:cs typeface="Arial"/>
              </a:rPr>
              <a:t>Chưa có kết quả thực nghiệm ViHSD</a:t>
            </a:r>
          </a:p>
        </p:txBody>
      </p:sp>
    </p:spTree>
    <p:extLst>
      <p:ext uri="{BB962C8B-B14F-4D97-AF65-F5344CB8AC3E}">
        <p14:creationId xmlns:p14="http://schemas.microsoft.com/office/powerpoint/2010/main" val="263955767"/>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A777C7-7222-4BE6-9750-60025A6F91B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Phạm vi đồ án</a:t>
            </a:r>
          </a:p>
        </p:txBody>
      </p:sp>
      <p:sp>
        <p:nvSpPr>
          <p:cNvPr id="2" name="">
            <a:extLst xmlns:a="http://schemas.openxmlformats.org/drawingml/2006/main">
              <a:ext uri="{FF2B5EF4-FFF2-40B4-BE49-F238E27FC236}">
                <a16:creationId xmlns:a16="http://schemas.microsoft.com/office/drawing/2014/main" id="{BBE0E8E3-4FDB-41C3-9C22-8481DC953868}"/>
              </a:ext>
            </a:extLst>
          </p:cNvPr>
          <p:cNvSpPr>
            <a:spLocks xmlns:a="http://schemas.openxmlformats.org/drawingml/2006/main" noGrp="1"/>
          </p:cNvSpPr>
          <p:nvPr/>
        </p:nvSpPr>
        <p:spPr>
          <a:xfrm xmlns:a="http://schemas.openxmlformats.org/drawingml/2006/main">
            <a:off x="647700" y="12668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55D6F"/>
                </a:solidFill>
                <a:latin typeface="Arial"/>
                <a:ea typeface="Arial"/>
                <a:cs typeface="Arial"/>
              </a:defRPr>
            </a:pPr>
            <a:r>
              <a:rPr sz="2100" b="0">
                <a:solidFill>
                  <a:srgbClr val="455D6F"/>
                </a:solidFill>
                <a:latin typeface="Arial"/>
                <a:ea typeface="Arial"/>
                <a:cs typeface="Arial"/>
              </a:rPr>
              <a:t>Đầu vào là một bình luận tiếng Việt. Đầu ra gồm CLEAN, OFFENSIVE và HATE.</a:t>
            </a:r>
          </a:p>
        </p:txBody>
      </p:sp>
      <p:graphicFrame>
        <p:nvGraphicFramePr>
          <p:cNvPr id="7" name=""/>
          <p:cNvGraphicFramePr/>
          <p:nvPr/>
        </p:nvGraphicFramePr>
        <p:xfrm>
          <a:off xmlns:a="http://schemas.openxmlformats.org/drawingml/2006/main" x="685800" y="2314575"/>
          <a:ext xmlns:a="http://schemas.openxmlformats.org/drawingml/2006/main" cx="10668000" cy="2857500"/>
        </p:xfrm>
        <a:graphic xmlns:a="http://schemas.openxmlformats.org/drawingml/2006/main">
          <a:graphicData uri="http://schemas.openxmlformats.org/drawingml/2006/table">
            <a:tbl>
              <a:tblPr/>
              <a:tblGrid>
                <a:gridCol w="3429000"/>
                <a:gridCol w="7239000"/>
              </a:tblGrid>
              <a:tr h="571500">
                <a:tc>
                  <a:txBody>
                    <a:bodyPr/>
                    <a:lstStyle/>
                    <a:p>
                      <a:r>
                        <a:rPr sz="1800" b="1">
                          <a:solidFill>
                            <a:srgbClr val="17334B"/>
                          </a:solidFill>
                          <a:latin typeface="Arial"/>
                          <a:ea typeface="Arial"/>
                          <a:cs typeface="Arial"/>
                        </a:rPr>
                        <a:t>Yêu cầu</a:t>
                      </a:r>
                    </a:p>
                  </a:txBody>
                  <a:tcPr marL="152400" marR="152400" marT="114300" marB="114300" anchor="ctr">
                    <a:solidFill>
                      <a:srgbClr val="DCE6EE"/>
                    </a:solidFill>
                  </a:tcPr>
                </a:tc>
                <a:tc>
                  <a:txBody>
                    <a:bodyPr/>
                    <a:lstStyle/>
                    <a:p>
                      <a:r>
                        <a:rPr sz="1800" b="1">
                          <a:solidFill>
                            <a:srgbClr val="17334B"/>
                          </a:solidFill>
                          <a:latin typeface="Arial"/>
                          <a:ea typeface="Arial"/>
                          <a:cs typeface="Arial"/>
                        </a:rPr>
                        <a:t>Đầu ra trong workflow</a:t>
                      </a:r>
                    </a:p>
                  </a:txBody>
                  <a:tcPr marL="152400" marR="152400" marT="114300" marB="114300" anchor="ctr">
                    <a:solidFill>
                      <a:srgbClr val="DCE6EE"/>
                    </a:solidFill>
                  </a:tcPr>
                </a:tc>
              </a:tr>
              <a:tr h="571500">
                <a:tc>
                  <a:txBody>
                    <a:bodyPr/>
                    <a:lstStyle/>
                    <a:p>
                      <a:r>
                        <a:rPr sz="1800">
                          <a:solidFill>
                            <a:srgbClr val="17334B"/>
                          </a:solidFill>
                          <a:latin typeface="Arial"/>
                          <a:ea typeface="Arial"/>
                          <a:cs typeface="Arial"/>
                        </a:rPr>
                        <a:t>EDA và tiền xử lý</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Audit split, bảng và biểu đồ tổng hợp</a:t>
                      </a:r>
                    </a:p>
                  </a:txBody>
                  <a:tcPr marL="152400" marR="152400" marT="114300" marB="114300" anchor="ctr">
                    <a:solidFill>
                      <a:srgbClr val="FFFFFF"/>
                    </a:solidFill>
                  </a:tcPr>
                </a:tc>
              </a:tr>
              <a:tr h="571500">
                <a:tc>
                  <a:txBody>
                    <a:bodyPr/>
                    <a:lstStyle/>
                    <a:p>
                      <a:r>
                        <a:rPr sz="1800">
                          <a:solidFill>
                            <a:srgbClr val="17334B"/>
                          </a:solidFill>
                          <a:latin typeface="Arial"/>
                          <a:ea typeface="Arial"/>
                          <a:cs typeface="Arial"/>
                        </a:rPr>
                        <a:t>Ba mô hình cơ bản</a:t>
                      </a:r>
                    </a:p>
                  </a:txBody>
                  <a:tcPr marL="152400" marR="152400" marT="114300" marB="114300" anchor="ctr">
                    <a:solidFill>
                      <a:srgbClr val="F0F4F7"/>
                    </a:solidFill>
                  </a:tcPr>
                </a:tc>
                <a:tc>
                  <a:txBody>
                    <a:bodyPr/>
                    <a:lstStyle/>
                    <a:p>
                      <a:r>
                        <a:rPr sz="1800">
                          <a:solidFill>
                            <a:srgbClr val="17334B"/>
                          </a:solidFill>
                          <a:latin typeface="Arial"/>
                          <a:ea typeface="Arial"/>
                          <a:cs typeface="Arial"/>
                        </a:rPr>
                        <a:t>SVM, Logistic Regression, ComplementNB</a:t>
                      </a:r>
                    </a:p>
                  </a:txBody>
                  <a:tcPr marL="152400" marR="152400" marT="114300" marB="114300" anchor="ctr">
                    <a:solidFill>
                      <a:srgbClr val="F0F4F7"/>
                    </a:solidFill>
                  </a:tcPr>
                </a:tc>
              </a:tr>
              <a:tr h="571500">
                <a:tc>
                  <a:txBody>
                    <a:bodyPr/>
                    <a:lstStyle/>
                    <a:p>
                      <a:r>
                        <a:rPr sz="1800">
                          <a:solidFill>
                            <a:srgbClr val="17334B"/>
                          </a:solidFill>
                          <a:latin typeface="Arial"/>
                          <a:ea typeface="Arial"/>
                          <a:cs typeface="Arial"/>
                        </a:rPr>
                        <a:t>Đánh giá</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Macro-F1, metrics từng lớp, confusion matrix</a:t>
                      </a:r>
                    </a:p>
                  </a:txBody>
                  <a:tcPr marL="152400" marR="152400" marT="114300" marB="114300" anchor="ctr">
                    <a:solidFill>
                      <a:srgbClr val="FFFFFF"/>
                    </a:solidFill>
                  </a:tcPr>
                </a:tc>
              </a:tr>
              <a:tr h="571500">
                <a:tc>
                  <a:txBody>
                    <a:bodyPr/>
                    <a:lstStyle/>
                    <a:p>
                      <a:r>
                        <a:rPr sz="1800">
                          <a:solidFill>
                            <a:srgbClr val="17334B"/>
                          </a:solidFill>
                          <a:latin typeface="Arial"/>
                          <a:ea typeface="Arial"/>
                          <a:cs typeface="Arial"/>
                        </a:rPr>
                        <a:t>Phân tích và ứng dụng</a:t>
                      </a:r>
                    </a:p>
                  </a:txBody>
                  <a:tcPr marL="152400" marR="152400" marT="114300" marB="114300" anchor="ctr">
                    <a:solidFill>
                      <a:srgbClr val="F0F4F7"/>
                    </a:solidFill>
                  </a:tcPr>
                </a:tc>
                <a:tc>
                  <a:txBody>
                    <a:bodyPr/>
                    <a:lstStyle/>
                    <a:p>
                      <a:r>
                        <a:rPr sz="1800">
                          <a:solidFill>
                            <a:srgbClr val="17334B"/>
                          </a:solidFill>
                          <a:latin typeface="Arial"/>
                          <a:ea typeface="Arial"/>
                          <a:cs typeface="Arial"/>
                        </a:rPr>
                        <a:t>Learning curves, lỗi, latency và demo SafeView</a:t>
                      </a:r>
                    </a:p>
                  </a:txBody>
                  <a:tcPr marL="152400" marR="152400" marT="114300" marB="114300" anchor="ctr">
                    <a:solidFill>
                      <a:srgbClr val="F0F4F7"/>
                    </a:solidFill>
                  </a:tcPr>
                </a:tc>
              </a:tr>
            </a:tbl>
          </a:graphicData>
        </a:graphic>
      </p:graphicFrame>
      <p:sp>
        <p:nvSpPr>
          <p:cNvPr id="4" name="">
            <a:extLst xmlns:a="http://schemas.openxmlformats.org/drawingml/2006/main">
              <a:ext uri="{FF2B5EF4-FFF2-40B4-BE49-F238E27FC236}">
                <a16:creationId xmlns:a16="http://schemas.microsoft.com/office/drawing/2014/main" id="{E54DBF46-08EE-45E9-84E4-5A6519497816}"/>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Cần xác nhận phạm vi NLP với giảng viên. RoBERTa tiếng Anh có sẵn không thuộc ba mô hình của đồ án.</a:t>
            </a:r>
          </a:p>
        </p:txBody>
      </p:sp>
    </p:spTree>
    <p:extLst>
      <p:ext uri="{BB962C8B-B14F-4D97-AF65-F5344CB8AC3E}">
        <p14:creationId xmlns:p14="http://schemas.microsoft.com/office/powerpoint/2010/main" val="661618699"/>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D5106B-F2BF-484C-A2F9-C5E4CCF972DA}"/>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ViHSD và provenance</a:t>
            </a:r>
          </a:p>
        </p:txBody>
      </p:sp>
      <p:sp>
        <p:nvSpPr>
          <p:cNvPr id="2" name="">
            <a:extLst xmlns:a="http://schemas.openxmlformats.org/drawingml/2006/main">
              <a:ext uri="{FF2B5EF4-FFF2-40B4-BE49-F238E27FC236}">
                <a16:creationId xmlns:a16="http://schemas.microsoft.com/office/drawing/2014/main" id="{7EC9A048-040F-4729-8DD7-2324F3114E9E}"/>
              </a:ext>
            </a:extLst>
          </p:cNvPr>
          <p:cNvSpPr>
            <a:spLocks xmlns:a="http://schemas.openxmlformats.org/drawingml/2006/main" noGrp="1"/>
          </p:cNvSpPr>
          <p:nvPr/>
        </p:nvSpPr>
        <p:spPr>
          <a:xfrm xmlns:a="http://schemas.openxmlformats.org/drawingml/2006/main">
            <a:off x="647700" y="12668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55D6F"/>
                </a:solidFill>
                <a:latin typeface="Arial"/>
                <a:ea typeface="Arial"/>
                <a:cs typeface="Arial"/>
              </a:defRPr>
            </a:pPr>
            <a:r>
              <a:rPr sz="2100" b="0">
                <a:solidFill>
                  <a:srgbClr val="455D6F"/>
                </a:solidFill>
                <a:latin typeface="Arial"/>
                <a:ea typeface="Arial"/>
                <a:cs typeface="Arial"/>
              </a:rPr>
              <a:t>Dataset trên Hugging Face yêu cầu đăng nhập và chấp nhận điều kiện truy cập.</a:t>
            </a:r>
          </a:p>
        </p:txBody>
      </p:sp>
      <p:graphicFrame>
        <p:nvGraphicFramePr>
          <p:cNvPr id="7" name=""/>
          <p:cNvGraphicFramePr/>
          <p:nvPr/>
        </p:nvGraphicFramePr>
        <p:xfrm>
          <a:off xmlns:a="http://schemas.openxmlformats.org/drawingml/2006/main" x="685800" y="2314575"/>
          <a:ext xmlns:a="http://schemas.openxmlformats.org/drawingml/2006/main" cx="10668000" cy="2524125"/>
        </p:xfrm>
        <a:graphic xmlns:a="http://schemas.openxmlformats.org/drawingml/2006/main">
          <a:graphicData uri="http://schemas.openxmlformats.org/drawingml/2006/table">
            <a:tbl>
              <a:tblPr/>
              <a:tblGrid>
                <a:gridCol w="3143250"/>
                <a:gridCol w="7524750"/>
              </a:tblGrid>
              <a:tr h="631031">
                <a:tc>
                  <a:txBody>
                    <a:bodyPr/>
                    <a:lstStyle/>
                    <a:p>
                      <a:r>
                        <a:rPr sz="1800" b="1">
                          <a:solidFill>
                            <a:srgbClr val="17334B"/>
                          </a:solidFill>
                          <a:latin typeface="Arial"/>
                          <a:ea typeface="Arial"/>
                          <a:cs typeface="Arial"/>
                        </a:rPr>
                        <a:t>Mã nhãn</a:t>
                      </a:r>
                    </a:p>
                  </a:txBody>
                  <a:tcPr marL="152400" marR="152400" marT="114300" marB="114300" anchor="ctr">
                    <a:solidFill>
                      <a:srgbClr val="DCE6EE"/>
                    </a:solidFill>
                  </a:tcPr>
                </a:tc>
                <a:tc>
                  <a:txBody>
                    <a:bodyPr/>
                    <a:lstStyle/>
                    <a:p>
                      <a:r>
                        <a:rPr sz="1800" b="1">
                          <a:solidFill>
                            <a:srgbClr val="17334B"/>
                          </a:solidFill>
                          <a:latin typeface="Arial"/>
                          <a:ea typeface="Arial"/>
                          <a:cs typeface="Arial"/>
                        </a:rPr>
                        <a:t>Tên nhãn</a:t>
                      </a:r>
                    </a:p>
                  </a:txBody>
                  <a:tcPr marL="152400" marR="152400" marT="114300" marB="114300" anchor="ctr">
                    <a:solidFill>
                      <a:srgbClr val="DCE6EE"/>
                    </a:solidFill>
                  </a:tcPr>
                </a:tc>
              </a:tr>
              <a:tr h="631031">
                <a:tc>
                  <a:txBody>
                    <a:bodyPr/>
                    <a:lstStyle/>
                    <a:p>
                      <a:r>
                        <a:rPr sz="1800">
                          <a:solidFill>
                            <a:srgbClr val="17334B"/>
                          </a:solidFill>
                          <a:latin typeface="Arial"/>
                          <a:ea typeface="Arial"/>
                          <a:cs typeface="Arial"/>
                        </a:rPr>
                        <a:t>0</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CLEAN</a:t>
                      </a:r>
                    </a:p>
                  </a:txBody>
                  <a:tcPr marL="152400" marR="152400" marT="114300" marB="114300" anchor="ctr">
                    <a:solidFill>
                      <a:srgbClr val="FFFFFF"/>
                    </a:solidFill>
                  </a:tcPr>
                </a:tc>
              </a:tr>
              <a:tr h="631031">
                <a:tc>
                  <a:txBody>
                    <a:bodyPr/>
                    <a:lstStyle/>
                    <a:p>
                      <a:r>
                        <a:rPr sz="1800">
                          <a:solidFill>
                            <a:srgbClr val="17334B"/>
                          </a:solidFill>
                          <a:latin typeface="Arial"/>
                          <a:ea typeface="Arial"/>
                          <a:cs typeface="Arial"/>
                        </a:rPr>
                        <a:t>1</a:t>
                      </a:r>
                    </a:p>
                  </a:txBody>
                  <a:tcPr marL="152400" marR="152400" marT="114300" marB="114300" anchor="ctr">
                    <a:solidFill>
                      <a:srgbClr val="F0F4F7"/>
                    </a:solidFill>
                  </a:tcPr>
                </a:tc>
                <a:tc>
                  <a:txBody>
                    <a:bodyPr/>
                    <a:lstStyle/>
                    <a:p>
                      <a:r>
                        <a:rPr sz="1800">
                          <a:solidFill>
                            <a:srgbClr val="17334B"/>
                          </a:solidFill>
                          <a:latin typeface="Arial"/>
                          <a:ea typeface="Arial"/>
                          <a:cs typeface="Arial"/>
                        </a:rPr>
                        <a:t>OFFENSIVE</a:t>
                      </a:r>
                    </a:p>
                  </a:txBody>
                  <a:tcPr marL="152400" marR="152400" marT="114300" marB="114300" anchor="ctr">
                    <a:solidFill>
                      <a:srgbClr val="F0F4F7"/>
                    </a:solidFill>
                  </a:tcPr>
                </a:tc>
              </a:tr>
              <a:tr h="631031">
                <a:tc>
                  <a:txBody>
                    <a:bodyPr/>
                    <a:lstStyle/>
                    <a:p>
                      <a:r>
                        <a:rPr sz="1800">
                          <a:solidFill>
                            <a:srgbClr val="17334B"/>
                          </a:solidFill>
                          <a:latin typeface="Arial"/>
                          <a:ea typeface="Arial"/>
                          <a:cs typeface="Arial"/>
                        </a:rPr>
                        <a:t>2</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HATE</a:t>
                      </a:r>
                    </a:p>
                  </a:txBody>
                  <a:tcPr marL="152400" marR="15240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35885D8-5456-4251-BD3A-A1FE48CCC9A7}"/>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Có dev/test cục bộ, còn thiếu train. Chưa xác minh revision nguồn. Chưa có thực nghiệm ViHSD hoàn chỉnh.</a:t>
            </a:r>
          </a:p>
        </p:txBody>
      </p:sp>
    </p:spTree>
    <p:extLst>
      <p:ext uri="{BB962C8B-B14F-4D97-AF65-F5344CB8AC3E}">
        <p14:creationId xmlns:p14="http://schemas.microsoft.com/office/powerpoint/2010/main" val="1082047440"/>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4B1F4C-CC0C-417A-8DC1-3A730DBC5282}"/>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Tiền xử lý và đặc trưng</a:t>
            </a:r>
          </a:p>
        </p:txBody>
      </p:sp>
      <p:sp>
        <p:nvSpPr>
          <p:cNvPr id="2" name="">
            <a:extLst xmlns:a="http://schemas.openxmlformats.org/drawingml/2006/main">
              <a:ext uri="{FF2B5EF4-FFF2-40B4-BE49-F238E27FC236}">
                <a16:creationId xmlns:a16="http://schemas.microsoft.com/office/drawing/2014/main" id="{9B6F6505-2534-4E45-8549-5634CB094127}"/>
              </a:ext>
            </a:extLst>
          </p:cNvPr>
          <p:cNvSpPr>
            <a:spLocks xmlns:a="http://schemas.openxmlformats.org/drawingml/2006/main" noGrp="1"/>
          </p:cNvSpPr>
          <p:nvPr/>
        </p:nvSpPr>
        <p:spPr>
          <a:xfrm xmlns:a="http://schemas.openxmlformats.org/drawingml/2006/main">
            <a:off x="647700" y="12668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55D6F"/>
                </a:solidFill>
                <a:latin typeface="Arial"/>
                <a:ea typeface="Arial"/>
                <a:cs typeface="Arial"/>
              </a:defRPr>
            </a:pPr>
            <a:r>
              <a:rPr sz="2100" b="0">
                <a:solidFill>
                  <a:srgbClr val="455D6F"/>
                </a:solidFill>
                <a:latin typeface="Arial"/>
                <a:ea typeface="Arial"/>
                <a:cs typeface="Arial"/>
              </a:rPr>
              <a:t>NFC và khoảng trắng. Giữ dấu, emoji, phủ định và chữ hoa theo cấu hình mặc định.</a:t>
            </a:r>
          </a:p>
        </p:txBody>
      </p:sp>
      <p:graphicFrame>
        <p:nvGraphicFramePr>
          <p:cNvPr id="7" name=""/>
          <p:cNvGraphicFramePr/>
          <p:nvPr/>
        </p:nvGraphicFramePr>
        <p:xfrm>
          <a:off xmlns:a="http://schemas.openxmlformats.org/drawingml/2006/main" x="685800" y="2314575"/>
          <a:ext xmlns:a="http://schemas.openxmlformats.org/drawingml/2006/main" cx="10668000" cy="2524125"/>
        </p:xfrm>
        <a:graphic xmlns:a="http://schemas.openxmlformats.org/drawingml/2006/main">
          <a:graphicData uri="http://schemas.openxmlformats.org/drawingml/2006/table">
            <a:tbl>
              <a:tblPr/>
              <a:tblGrid>
                <a:gridCol w="3905250"/>
                <a:gridCol w="3238500"/>
                <a:gridCol w="3524250"/>
              </a:tblGrid>
              <a:tr h="631031">
                <a:tc>
                  <a:txBody>
                    <a:bodyPr/>
                    <a:lstStyle/>
                    <a:p>
                      <a:r>
                        <a:rPr sz="1800" b="1">
                          <a:solidFill>
                            <a:srgbClr val="17334B"/>
                          </a:solidFill>
                          <a:latin typeface="Arial"/>
                          <a:ea typeface="Arial"/>
                          <a:cs typeface="Arial"/>
                        </a:rPr>
                        <a:t>Biểu diễn</a:t>
                      </a:r>
                    </a:p>
                  </a:txBody>
                  <a:tcPr marL="152400" marR="152400" marT="114300" marB="114300" anchor="ctr">
                    <a:solidFill>
                      <a:srgbClr val="DCE6EE"/>
                    </a:solidFill>
                  </a:tcPr>
                </a:tc>
                <a:tc>
                  <a:txBody>
                    <a:bodyPr/>
                    <a:lstStyle/>
                    <a:p>
                      <a:r>
                        <a:rPr sz="1800" b="1">
                          <a:solidFill>
                            <a:srgbClr val="17334B"/>
                          </a:solidFill>
                          <a:latin typeface="Arial"/>
                          <a:ea typeface="Arial"/>
                          <a:cs typeface="Arial"/>
                        </a:rPr>
                        <a:t>N-gram</a:t>
                      </a:r>
                    </a:p>
                  </a:txBody>
                  <a:tcPr marL="152400" marR="152400" marT="114300" marB="114300" anchor="ctr">
                    <a:solidFill>
                      <a:srgbClr val="DCE6EE"/>
                    </a:solidFill>
                  </a:tcPr>
                </a:tc>
                <a:tc>
                  <a:txBody>
                    <a:bodyPr/>
                    <a:lstStyle/>
                    <a:p>
                      <a:r>
                        <a:rPr sz="1800" b="1">
                          <a:solidFill>
                            <a:srgbClr val="17334B"/>
                          </a:solidFill>
                          <a:latin typeface="Arial"/>
                          <a:ea typeface="Arial"/>
                          <a:cs typeface="Arial"/>
                        </a:rPr>
                        <a:t>Số đặc trưng tối đa</a:t>
                      </a:r>
                    </a:p>
                  </a:txBody>
                  <a:tcPr marL="152400" marR="152400" marT="114300" marB="114300" anchor="ctr">
                    <a:solidFill>
                      <a:srgbClr val="DCE6EE"/>
                    </a:solidFill>
                  </a:tcPr>
                </a:tc>
              </a:tr>
              <a:tr h="631031">
                <a:tc>
                  <a:txBody>
                    <a:bodyPr/>
                    <a:lstStyle/>
                    <a:p>
                      <a:r>
                        <a:rPr sz="1800">
                          <a:solidFill>
                            <a:srgbClr val="17334B"/>
                          </a:solidFill>
                          <a:latin typeface="Arial"/>
                          <a:ea typeface="Arial"/>
                          <a:cs typeface="Arial"/>
                        </a:rPr>
                        <a:t>Token khoảng trắng</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1 đến 2</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50.000</a:t>
                      </a:r>
                    </a:p>
                  </a:txBody>
                  <a:tcPr marL="152400" marR="152400" marT="114300" marB="114300" anchor="ctr">
                    <a:solidFill>
                      <a:srgbClr val="FFFFFF"/>
                    </a:solidFill>
                  </a:tcPr>
                </a:tc>
              </a:tr>
              <a:tr h="631031">
                <a:tc>
                  <a:txBody>
                    <a:bodyPr/>
                    <a:lstStyle/>
                    <a:p>
                      <a:r>
                        <a:rPr sz="1800">
                          <a:solidFill>
                            <a:srgbClr val="17334B"/>
                          </a:solidFill>
                          <a:latin typeface="Arial"/>
                          <a:ea typeface="Arial"/>
                          <a:cs typeface="Arial"/>
                        </a:rPr>
                        <a:t>Ký tự</a:t>
                      </a:r>
                    </a:p>
                  </a:txBody>
                  <a:tcPr marL="152400" marR="152400" marT="114300" marB="114300" anchor="ctr">
                    <a:solidFill>
                      <a:srgbClr val="F0F4F7"/>
                    </a:solidFill>
                  </a:tcPr>
                </a:tc>
                <a:tc>
                  <a:txBody>
                    <a:bodyPr/>
                    <a:lstStyle/>
                    <a:p>
                      <a:r>
                        <a:rPr sz="1800">
                          <a:solidFill>
                            <a:srgbClr val="17334B"/>
                          </a:solidFill>
                          <a:latin typeface="Arial"/>
                          <a:ea typeface="Arial"/>
                          <a:cs typeface="Arial"/>
                        </a:rPr>
                        <a:t>3 đến 5</a:t>
                      </a:r>
                    </a:p>
                  </a:txBody>
                  <a:tcPr marL="152400" marR="152400" marT="114300" marB="114300" anchor="ctr">
                    <a:solidFill>
                      <a:srgbClr val="F0F4F7"/>
                    </a:solidFill>
                  </a:tcPr>
                </a:tc>
                <a:tc>
                  <a:txBody>
                    <a:bodyPr/>
                    <a:lstStyle/>
                    <a:p>
                      <a:r>
                        <a:rPr sz="1800">
                          <a:solidFill>
                            <a:srgbClr val="17334B"/>
                          </a:solidFill>
                          <a:latin typeface="Arial"/>
                          <a:ea typeface="Arial"/>
                          <a:cs typeface="Arial"/>
                        </a:rPr>
                        <a:t>50.000</a:t>
                      </a:r>
                    </a:p>
                  </a:txBody>
                  <a:tcPr marL="152400" marR="152400" marT="114300" marB="114300" anchor="ctr">
                    <a:solidFill>
                      <a:srgbClr val="F0F4F7"/>
                    </a:solidFill>
                  </a:tcPr>
                </a:tc>
              </a:tr>
              <a:tr h="631031">
                <a:tc>
                  <a:txBody>
                    <a:bodyPr/>
                    <a:lstStyle/>
                    <a:p>
                      <a:r>
                        <a:rPr sz="1800">
                          <a:solidFill>
                            <a:srgbClr val="17334B"/>
                          </a:solidFill>
                          <a:latin typeface="Arial"/>
                          <a:ea typeface="Arial"/>
                          <a:cs typeface="Arial"/>
                        </a:rPr>
                        <a:t>FeatureUnion</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Hai nhóm kết hợp</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100.000</a:t>
                      </a:r>
                    </a:p>
                  </a:txBody>
                  <a:tcPr marL="152400" marR="15240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DFA2043-CD45-4FCF-A71F-79F0A32FF7C6}"/>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Token khoảng trắng thường là âm tiết tiếng Việt. Vectorizer chỉ học vocabulary từ train. Giữ ma trận sparse.</a:t>
            </a:r>
          </a:p>
        </p:txBody>
      </p:sp>
    </p:spTree>
    <p:extLst>
      <p:ext uri="{BB962C8B-B14F-4D97-AF65-F5344CB8AC3E}">
        <p14:creationId xmlns:p14="http://schemas.microsoft.com/office/powerpoint/2010/main" val="991905975"/>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A226AF-97D6-4BB6-9EF7-67B24D67AECB}"/>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Ba mô hình và ngân sách tìm kiếm</a:t>
            </a:r>
          </a:p>
        </p:txBody>
      </p:sp>
      <p:sp>
        <p:nvSpPr>
          <p:cNvPr id="2" name="">
            <a:extLst xmlns:a="http://schemas.openxmlformats.org/drawingml/2006/main">
              <a:ext uri="{FF2B5EF4-FFF2-40B4-BE49-F238E27FC236}">
                <a16:creationId xmlns:a16="http://schemas.microsoft.com/office/drawing/2014/main" id="{12D49CEB-10A8-48B2-B600-ACE4D056BABB}"/>
              </a:ext>
            </a:extLst>
          </p:cNvPr>
          <p:cNvSpPr>
            <a:spLocks xmlns:a="http://schemas.openxmlformats.org/drawingml/2006/main" noGrp="1"/>
          </p:cNvSpPr>
          <p:nvPr/>
        </p:nvSpPr>
        <p:spPr>
          <a:xfrm xmlns:a="http://schemas.openxmlformats.org/drawingml/2006/main">
            <a:off x="647700" y="12668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55D6F"/>
                </a:solidFill>
                <a:latin typeface="Arial"/>
                <a:ea typeface="Arial"/>
                <a:cs typeface="Arial"/>
              </a:defRPr>
            </a:pPr>
            <a:r>
              <a:rPr sz="2100" b="0">
                <a:solidFill>
                  <a:srgbClr val="455D6F"/>
                </a:solidFill>
                <a:latin typeface="Arial"/>
                <a:ea typeface="Arial"/>
                <a:cs typeface="Arial"/>
              </a:rPr>
              <a:t>Thử cùng các biểu diễn, sau đó tune classifier trên biểu diễn tốt nhất của từng họ.</a:t>
            </a:r>
          </a:p>
        </p:txBody>
      </p:sp>
      <p:graphicFrame>
        <p:nvGraphicFramePr>
          <p:cNvPr id="7" name=""/>
          <p:cNvGraphicFramePr/>
          <p:nvPr/>
        </p:nvGraphicFramePr>
        <p:xfrm>
          <a:off xmlns:a="http://schemas.openxmlformats.org/drawingml/2006/main" x="685800" y="2314575"/>
          <a:ext xmlns:a="http://schemas.openxmlformats.org/drawingml/2006/main" cx="10668000" cy="2524125"/>
        </p:xfrm>
        <a:graphic xmlns:a="http://schemas.openxmlformats.org/drawingml/2006/main">
          <a:graphicData uri="http://schemas.openxmlformats.org/drawingml/2006/table">
            <a:tbl>
              <a:tblPr/>
              <a:tblGrid>
                <a:gridCol w="3714750"/>
                <a:gridCol w="6953250"/>
              </a:tblGrid>
              <a:tr h="631031">
                <a:tc>
                  <a:txBody>
                    <a:bodyPr/>
                    <a:lstStyle/>
                    <a:p>
                      <a:r>
                        <a:rPr sz="1800" b="1">
                          <a:solidFill>
                            <a:srgbClr val="17334B"/>
                          </a:solidFill>
                          <a:latin typeface="Arial"/>
                          <a:ea typeface="Arial"/>
                          <a:cs typeface="Arial"/>
                        </a:rPr>
                        <a:t>Mô hình</a:t>
                      </a:r>
                    </a:p>
                  </a:txBody>
                  <a:tcPr marL="152400" marR="152400" marT="114300" marB="114300" anchor="ctr">
                    <a:solidFill>
                      <a:srgbClr val="DCE6EE"/>
                    </a:solidFill>
                  </a:tcPr>
                </a:tc>
                <a:tc>
                  <a:txBody>
                    <a:bodyPr/>
                    <a:lstStyle/>
                    <a:p>
                      <a:r>
                        <a:rPr sz="1800" b="1">
                          <a:solidFill>
                            <a:srgbClr val="17334B"/>
                          </a:solidFill>
                          <a:latin typeface="Arial"/>
                          <a:ea typeface="Arial"/>
                          <a:cs typeface="Arial"/>
                        </a:rPr>
                        <a:t>Tham số tune</a:t>
                      </a:r>
                    </a:p>
                  </a:txBody>
                  <a:tcPr marL="152400" marR="152400" marT="114300" marB="114300" anchor="ctr">
                    <a:solidFill>
                      <a:srgbClr val="DCE6EE"/>
                    </a:solidFill>
                  </a:tcPr>
                </a:tc>
              </a:tr>
              <a:tr h="631031">
                <a:tc>
                  <a:txBody>
                    <a:bodyPr/>
                    <a:lstStyle/>
                    <a:p>
                      <a:r>
                        <a:rPr sz="1800">
                          <a:solidFill>
                            <a:srgbClr val="17334B"/>
                          </a:solidFill>
                          <a:latin typeface="Arial"/>
                          <a:ea typeface="Arial"/>
                          <a:cs typeface="Arial"/>
                        </a:rPr>
                        <a:t>LinearSVC</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C: 0,1 / 1 / 5    weight: None / balanced</a:t>
                      </a:r>
                    </a:p>
                  </a:txBody>
                  <a:tcPr marL="152400" marR="152400" marT="114300" marB="114300" anchor="ctr">
                    <a:solidFill>
                      <a:srgbClr val="FFFFFF"/>
                    </a:solidFill>
                  </a:tcPr>
                </a:tc>
              </a:tr>
              <a:tr h="631031">
                <a:tc>
                  <a:txBody>
                    <a:bodyPr/>
                    <a:lstStyle/>
                    <a:p>
                      <a:r>
                        <a:rPr sz="1800">
                          <a:solidFill>
                            <a:srgbClr val="17334B"/>
                          </a:solidFill>
                          <a:latin typeface="Arial"/>
                          <a:ea typeface="Arial"/>
                          <a:cs typeface="Arial"/>
                        </a:rPr>
                        <a:t>Logistic Regression</a:t>
                      </a:r>
                    </a:p>
                  </a:txBody>
                  <a:tcPr marL="152400" marR="152400" marT="114300" marB="114300" anchor="ctr">
                    <a:solidFill>
                      <a:srgbClr val="F0F4F7"/>
                    </a:solidFill>
                  </a:tcPr>
                </a:tc>
                <a:tc>
                  <a:txBody>
                    <a:bodyPr/>
                    <a:lstStyle/>
                    <a:p>
                      <a:r>
                        <a:rPr sz="1800">
                          <a:solidFill>
                            <a:srgbClr val="17334B"/>
                          </a:solidFill>
                          <a:latin typeface="Arial"/>
                          <a:ea typeface="Arial"/>
                          <a:cs typeface="Arial"/>
                        </a:rPr>
                        <a:t>C: 0,1 / 1 / 5    weight: None / balanced</a:t>
                      </a:r>
                    </a:p>
                  </a:txBody>
                  <a:tcPr marL="152400" marR="152400" marT="114300" marB="114300" anchor="ctr">
                    <a:solidFill>
                      <a:srgbClr val="F0F4F7"/>
                    </a:solidFill>
                  </a:tcPr>
                </a:tc>
              </a:tr>
              <a:tr h="631031">
                <a:tc>
                  <a:txBody>
                    <a:bodyPr/>
                    <a:lstStyle/>
                    <a:p>
                      <a:r>
                        <a:rPr sz="1800">
                          <a:solidFill>
                            <a:srgbClr val="17334B"/>
                          </a:solidFill>
                          <a:latin typeface="Arial"/>
                          <a:ea typeface="Arial"/>
                          <a:cs typeface="Arial"/>
                        </a:rPr>
                        <a:t>ComplementNB</a:t>
                      </a:r>
                    </a:p>
                  </a:txBody>
                  <a:tcPr marL="152400" marR="152400" marT="114300" marB="114300" anchor="ctr">
                    <a:solidFill>
                      <a:srgbClr val="FFFFFF"/>
                    </a:solidFill>
                  </a:tcPr>
                </a:tc>
                <a:tc>
                  <a:txBody>
                    <a:bodyPr/>
                    <a:lstStyle/>
                    <a:p>
                      <a:r>
                        <a:rPr sz="1800">
                          <a:solidFill>
                            <a:srgbClr val="17334B"/>
                          </a:solidFill>
                          <a:latin typeface="Arial"/>
                          <a:ea typeface="Arial"/>
                          <a:cs typeface="Arial"/>
                        </a:rPr>
                        <a:t>alpha: 0,1 / 0,5 / 1    norm: False / True</a:t>
                      </a:r>
                    </a:p>
                  </a:txBody>
                  <a:tcPr marL="152400" marR="15240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ED19686-5BB4-4788-B80B-BF44C6D7436D}"/>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min_df = 2 hoặc 3. Ghi lại warnings, thời gian fit, RAM và số đặc trưng. Chưa xác định mô hình thắng.</a:t>
            </a:r>
          </a:p>
        </p:txBody>
      </p:sp>
    </p:spTree>
    <p:extLst>
      <p:ext uri="{BB962C8B-B14F-4D97-AF65-F5344CB8AC3E}">
        <p14:creationId xmlns:p14="http://schemas.microsoft.com/office/powerpoint/2010/main" val="1276450926"/>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AC8134-2F24-4818-B380-21E1EE401CD1}"/>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Validation calibration và test</a:t>
            </a:r>
          </a:p>
        </p:txBody>
      </p:sp>
      <p:sp>
        <p:nvSpPr>
          <p:cNvPr id="2" name="">
            <a:extLst xmlns:a="http://schemas.openxmlformats.org/drawingml/2006/main">
              <a:ext uri="{FF2B5EF4-FFF2-40B4-BE49-F238E27FC236}">
                <a16:creationId xmlns:a16="http://schemas.microsoft.com/office/drawing/2014/main" id="{3C12907A-7E4E-42C2-AEC2-92736D2C0370}"/>
              </a:ext>
            </a:extLst>
          </p:cNvPr>
          <p:cNvSpPr>
            <a:spLocks xmlns:a="http://schemas.openxmlformats.org/drawingml/2006/main" noGrp="1"/>
          </p:cNvSpPr>
          <p:nvPr/>
        </p:nvSpPr>
        <p:spPr>
          <a:xfrm xmlns:a="http://schemas.openxmlformats.org/drawingml/2006/main">
            <a:off x="723900" y="16478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1  Fit preprocessing, TF-IDF và classifier trên train</a:t>
            </a:r>
          </a:p>
        </p:txBody>
      </p:sp>
      <p:sp>
        <p:nvSpPr>
          <p:cNvPr id="3" name="">
            <a:extLst xmlns:a="http://schemas.openxmlformats.org/drawingml/2006/main">
              <a:ext uri="{FF2B5EF4-FFF2-40B4-BE49-F238E27FC236}">
                <a16:creationId xmlns:a16="http://schemas.microsoft.com/office/drawing/2014/main" id="{0CE07099-F979-4604-B96E-F81A89ADF2CA}"/>
              </a:ext>
            </a:extLst>
          </p:cNvPr>
          <p:cNvSpPr>
            <a:spLocks xmlns:a="http://schemas.openxmlformats.org/drawingml/2006/main" noGrp="1"/>
          </p:cNvSpPr>
          <p:nvPr/>
        </p:nvSpPr>
        <p:spPr>
          <a:xfrm xmlns:a="http://schemas.openxmlformats.org/drawingml/2006/main">
            <a:off x="723900" y="25241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2  Hiệu chỉnh SVM bằng sigmoid qua các fold của train</a:t>
            </a:r>
          </a:p>
        </p:txBody>
      </p:sp>
      <p:sp>
        <p:nvSpPr>
          <p:cNvPr id="4" name="">
            <a:extLst xmlns:a="http://schemas.openxmlformats.org/drawingml/2006/main">
              <a:ext uri="{FF2B5EF4-FFF2-40B4-BE49-F238E27FC236}">
                <a16:creationId xmlns:a16="http://schemas.microsoft.com/office/drawing/2014/main" id="{3ACD60D7-E092-40AD-8D92-B39FD8A6706B}"/>
              </a:ext>
            </a:extLst>
          </p:cNvPr>
          <p:cNvSpPr>
            <a:spLocks xmlns:a="http://schemas.openxmlformats.org/drawingml/2006/main" noGrp="1"/>
          </p:cNvSpPr>
          <p:nvPr/>
        </p:nvSpPr>
        <p:spPr>
          <a:xfrm xmlns:a="http://schemas.openxmlformats.org/drawingml/2006/main">
            <a:off x="723900" y="34004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3  Chọn pipeline bằng Macro-F1 validation sau calibration</a:t>
            </a:r>
          </a:p>
        </p:txBody>
      </p:sp>
      <p:sp>
        <p:nvSpPr>
          <p:cNvPr id="5" name="">
            <a:extLst xmlns:a="http://schemas.openxmlformats.org/drawingml/2006/main">
              <a:ext uri="{FF2B5EF4-FFF2-40B4-BE49-F238E27FC236}">
                <a16:creationId xmlns:a16="http://schemas.microsoft.com/office/drawing/2014/main" id="{1A9E7139-AE25-4DBE-9A7B-8AC40A19F8C8}"/>
              </a:ext>
            </a:extLst>
          </p:cNvPr>
          <p:cNvSpPr>
            <a:spLocks xmlns:a="http://schemas.openxmlformats.org/drawingml/2006/main" noGrp="1"/>
          </p:cNvSpPr>
          <p:nvPr/>
        </p:nvSpPr>
        <p:spPr>
          <a:xfrm xmlns:a="http://schemas.openxmlformats.org/drawingml/2006/main">
            <a:off x="723900" y="42767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4  Khóa model, policy và hashes trước lần đánh giá test</a:t>
            </a:r>
          </a:p>
        </p:txBody>
      </p:sp>
      <p:sp>
        <p:nvSpPr>
          <p:cNvPr id="6" name="">
            <a:extLst xmlns:a="http://schemas.openxmlformats.org/drawingml/2006/main">
              <a:ext uri="{FF2B5EF4-FFF2-40B4-BE49-F238E27FC236}">
                <a16:creationId xmlns:a16="http://schemas.microsoft.com/office/drawing/2014/main" id="{EB9A2786-34E2-4479-BCA0-C4F139511A6D}"/>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Báo riêng reliability, learning curves và độ trễ. Test không tham gia chọn mô hình hay ngưỡng.</a:t>
            </a:r>
          </a:p>
        </p:txBody>
      </p:sp>
    </p:spTree>
    <p:extLst>
      <p:ext uri="{BB962C8B-B14F-4D97-AF65-F5344CB8AC3E}">
        <p14:creationId xmlns:p14="http://schemas.microsoft.com/office/powerpoint/2010/main" val="1759882815"/>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075144-45A1-4A4D-8FBB-5138054C8F77}"/>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Nhãn ba lớp và quyết định ẩn</a:t>
            </a:r>
          </a:p>
        </p:txBody>
      </p:sp>
      <p:sp>
        <p:nvSpPr>
          <p:cNvPr id="2" name="">
            <a:extLst xmlns:a="http://schemas.openxmlformats.org/drawingml/2006/main">
              <a:ext uri="{FF2B5EF4-FFF2-40B4-BE49-F238E27FC236}">
                <a16:creationId xmlns:a16="http://schemas.microsoft.com/office/drawing/2014/main" id="{B1AE179C-F43F-4F5F-B6B9-9AC6FAF9F670}"/>
              </a:ext>
            </a:extLst>
          </p:cNvPr>
          <p:cNvSpPr>
            <a:spLocks xmlns:a="http://schemas.openxmlformats.org/drawingml/2006/main" noGrp="1"/>
          </p:cNvSpPr>
          <p:nvPr/>
        </p:nvSpPr>
        <p:spPr>
          <a:xfrm xmlns:a="http://schemas.openxmlformats.org/drawingml/2006/main">
            <a:off x="704850" y="1362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34B"/>
                </a:solidFill>
                <a:latin typeface="Arial"/>
                <a:ea typeface="Arial"/>
                <a:cs typeface="Arial"/>
              </a:defRPr>
            </a:pPr>
            <a:r>
              <a:rPr sz="2925" b="1">
                <a:solidFill>
                  <a:srgbClr val="17334B"/>
                </a:solidFill>
                <a:latin typeface="Arial"/>
                <a:ea typeface="Arial"/>
                <a:cs typeface="Arial"/>
              </a:rPr>
              <a:t>p_harm = P(OFFENSIVE) + P(HATE)</a:t>
            </a:r>
          </a:p>
        </p:txBody>
      </p:sp>
      <p:sp>
        <p:nvSpPr>
          <p:cNvPr id="3" name="">
            <a:extLst xmlns:a="http://schemas.openxmlformats.org/drawingml/2006/main">
              <a:ext uri="{FF2B5EF4-FFF2-40B4-BE49-F238E27FC236}">
                <a16:creationId xmlns:a16="http://schemas.microsoft.com/office/drawing/2014/main" id="{EC5A9E00-6F53-4340-9DE5-F0ACB64414C4}"/>
              </a:ext>
            </a:extLst>
          </p:cNvPr>
          <p:cNvSpPr>
            <a:spLocks xmlns:a="http://schemas.openxmlformats.org/drawingml/2006/main" noGrp="1"/>
          </p:cNvSpPr>
          <p:nvPr/>
        </p:nvSpPr>
        <p:spPr>
          <a:xfrm xmlns:a="http://schemas.openxmlformats.org/drawingml/2006/main">
            <a:off x="723900" y="24479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Nhãn ba lớp lấy argmax của ba xác suất</a:t>
            </a:r>
          </a:p>
        </p:txBody>
      </p:sp>
      <p:sp>
        <p:nvSpPr>
          <p:cNvPr id="4" name="">
            <a:extLst xmlns:a="http://schemas.openxmlformats.org/drawingml/2006/main">
              <a:ext uri="{FF2B5EF4-FFF2-40B4-BE49-F238E27FC236}">
                <a16:creationId xmlns:a16="http://schemas.microsoft.com/office/drawing/2014/main" id="{BE0A8F5D-5D69-4C8B-916D-DDE35D709088}"/>
              </a:ext>
            </a:extLst>
          </p:cNvPr>
          <p:cNvSpPr>
            <a:spLocks xmlns:a="http://schemas.openxmlformats.org/drawingml/2006/main" noGrp="1"/>
          </p:cNvSpPr>
          <p:nvPr/>
        </p:nvSpPr>
        <p:spPr>
          <a:xfrm xmlns:a="http://schemas.openxmlformats.org/drawingml/2006/main">
            <a:off x="723900" y="31337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Ẩn khi p_harm ≥ threshold</a:t>
            </a:r>
          </a:p>
        </p:txBody>
      </p:sp>
      <p:sp>
        <p:nvSpPr>
          <p:cNvPr id="5" name="">
            <a:extLst xmlns:a="http://schemas.openxmlformats.org/drawingml/2006/main">
              <a:ext uri="{FF2B5EF4-FFF2-40B4-BE49-F238E27FC236}">
                <a16:creationId xmlns:a16="http://schemas.microsoft.com/office/drawing/2014/main" id="{16ECE2DB-5C79-4F32-8D8A-81261887ECA6}"/>
              </a:ext>
            </a:extLst>
          </p:cNvPr>
          <p:cNvSpPr>
            <a:spLocks xmlns:a="http://schemas.openxmlformats.org/drawingml/2006/main" noGrp="1"/>
          </p:cNvSpPr>
          <p:nvPr/>
        </p:nvSpPr>
        <p:spPr>
          <a:xfrm xmlns:a="http://schemas.openxmlformats.org/drawingml/2006/main">
            <a:off x="723900" y="38195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Chọn ngưỡng tối đa hóa F1 harmful trên validation</a:t>
            </a:r>
          </a:p>
        </p:txBody>
      </p:sp>
      <p:sp>
        <p:nvSpPr>
          <p:cNvPr id="6" name="">
            <a:extLst xmlns:a="http://schemas.openxmlformats.org/drawingml/2006/main">
              <a:ext uri="{FF2B5EF4-FFF2-40B4-BE49-F238E27FC236}">
                <a16:creationId xmlns:a16="http://schemas.microsoft.com/office/drawing/2014/main" id="{394903F3-E6DF-470F-932D-444295EA2FC3}"/>
              </a:ext>
            </a:extLst>
          </p:cNvPr>
          <p:cNvSpPr>
            <a:spLocks xmlns:a="http://schemas.openxmlformats.org/drawingml/2006/main" noGrp="1"/>
          </p:cNvSpPr>
          <p:nvPr/>
        </p:nvSpPr>
        <p:spPr>
          <a:xfrm xmlns:a="http://schemas.openxmlformats.org/drawingml/2006/main">
            <a:off x="723900" y="45053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Nếu bằng nhau, ưu tiên FPR CLEAN thấp rồi ngưỡng cao</a:t>
            </a:r>
          </a:p>
        </p:txBody>
      </p:sp>
      <p:sp>
        <p:nvSpPr>
          <p:cNvPr id="7" name="">
            <a:extLst xmlns:a="http://schemas.openxmlformats.org/drawingml/2006/main">
              <a:ext uri="{FF2B5EF4-FFF2-40B4-BE49-F238E27FC236}">
                <a16:creationId xmlns:a16="http://schemas.microsoft.com/office/drawing/2014/main" id="{50B4881C-4C8C-4435-83A2-51B635D93F89}"/>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decision_policy.json lưu threshold, định nghĩa score, tiêu chí chọn và revision. Không thêm điều kiện argmax harmful.</a:t>
            </a:r>
          </a:p>
        </p:txBody>
      </p:sp>
    </p:spTree>
    <p:extLst>
      <p:ext uri="{BB962C8B-B14F-4D97-AF65-F5344CB8AC3E}">
        <p14:creationId xmlns:p14="http://schemas.microsoft.com/office/powerpoint/2010/main" val="1447309028"/>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D5BC5E-0E52-43C8-9F02-D0EBCD6433EA}"/>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Tích hợp SafeView</a:t>
            </a:r>
          </a:p>
        </p:txBody>
      </p:sp>
      <p:sp>
        <p:nvSpPr>
          <p:cNvPr id="2" name="">
            <a:extLst xmlns:a="http://schemas.openxmlformats.org/drawingml/2006/main">
              <a:ext uri="{FF2B5EF4-FFF2-40B4-BE49-F238E27FC236}">
                <a16:creationId xmlns:a16="http://schemas.microsoft.com/office/drawing/2014/main" id="{96B979BB-D289-4A39-992C-CD8ABB561FDF}"/>
              </a:ext>
            </a:extLst>
          </p:cNvPr>
          <p:cNvSpPr>
            <a:spLocks xmlns:a="http://schemas.openxmlformats.org/drawingml/2006/main" noGrp="1"/>
          </p:cNvSpPr>
          <p:nvPr/>
        </p:nvSpPr>
        <p:spPr>
          <a:xfrm xmlns:a="http://schemas.openxmlformats.org/drawingml/2006/main">
            <a:off x="723900" y="16478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HF Space nạp đúng pipeline và revision đã đánh giá</a:t>
            </a:r>
          </a:p>
        </p:txBody>
      </p:sp>
      <p:sp>
        <p:nvSpPr>
          <p:cNvPr id="3" name="">
            <a:extLst xmlns:a="http://schemas.openxmlformats.org/drawingml/2006/main">
              <a:ext uri="{FF2B5EF4-FFF2-40B4-BE49-F238E27FC236}">
                <a16:creationId xmlns:a16="http://schemas.microsoft.com/office/drawing/2014/main" id="{FCAC3413-80DD-40DE-B4F6-105A5D199A3B}"/>
              </a:ext>
            </a:extLst>
          </p:cNvPr>
          <p:cNvSpPr>
            <a:spLocks xmlns:a="http://schemas.openxmlformats.org/drawingml/2006/main" noGrp="1"/>
          </p:cNvSpPr>
          <p:nvPr/>
        </p:nvSpPr>
        <p:spPr>
          <a:xfrm xmlns:a="http://schemas.openxmlformats.org/drawingml/2006/main">
            <a:off x="723900" y="25241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Gradio classify trả xác suất CLEAN, OFFENSIVE và HATE</a:t>
            </a:r>
          </a:p>
        </p:txBody>
      </p:sp>
      <p:sp>
        <p:nvSpPr>
          <p:cNvPr id="4" name="">
            <a:extLst xmlns:a="http://schemas.openxmlformats.org/drawingml/2006/main">
              <a:ext uri="{FF2B5EF4-FFF2-40B4-BE49-F238E27FC236}">
                <a16:creationId xmlns:a16="http://schemas.microsoft.com/office/drawing/2014/main" id="{9F816EB5-4863-4CB0-BEE9-B90126E50BBA}"/>
              </a:ext>
            </a:extLst>
          </p:cNvPr>
          <p:cNvSpPr>
            <a:spLocks xmlns:a="http://schemas.openxmlformats.org/drawingml/2006/main" noGrp="1"/>
          </p:cNvSpPr>
          <p:nvPr/>
        </p:nvSpPr>
        <p:spPr>
          <a:xfrm xmlns:a="http://schemas.openxmlformats.org/drawingml/2006/main">
            <a:off x="723900" y="34004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Provider áp dụng p_harm và policy đã khóa</a:t>
            </a:r>
          </a:p>
        </p:txBody>
      </p:sp>
      <p:sp>
        <p:nvSpPr>
          <p:cNvPr id="5" name="">
            <a:extLst xmlns:a="http://schemas.openxmlformats.org/drawingml/2006/main">
              <a:ext uri="{FF2B5EF4-FFF2-40B4-BE49-F238E27FC236}">
                <a16:creationId xmlns:a16="http://schemas.microsoft.com/office/drawing/2014/main" id="{753DA28E-75AB-4E1E-8AF6-B50102970001}"/>
              </a:ext>
            </a:extLst>
          </p:cNvPr>
          <p:cNvSpPr>
            <a:spLocks xmlns:a="http://schemas.openxmlformats.org/drawingml/2006/main" noGrp="1"/>
          </p:cNvSpPr>
          <p:nvPr/>
        </p:nvSpPr>
        <p:spPr>
          <a:xfrm xmlns:a="http://schemas.openxmlformats.org/drawingml/2006/main">
            <a:off x="723900" y="42767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Đo riêng model thuần, lexicon, routing và độ trễ API</a:t>
            </a:r>
          </a:p>
        </p:txBody>
      </p:sp>
      <p:sp>
        <p:nvSpPr>
          <p:cNvPr id="6" name="">
            <a:extLst xmlns:a="http://schemas.openxmlformats.org/drawingml/2006/main">
              <a:ext uri="{FF2B5EF4-FFF2-40B4-BE49-F238E27FC236}">
                <a16:creationId xmlns:a16="http://schemas.microsoft.com/office/drawing/2014/main" id="{71D8E7E5-F35E-46B9-A52B-32D290FA4260}"/>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API lỗi phải báo trạng thái. Token giữ phía server. Chưa xác nhận triển khai public hoặc cải thiện so với PhoBERT.</a:t>
            </a:r>
          </a:p>
        </p:txBody>
      </p:sp>
    </p:spTree>
    <p:extLst>
      <p:ext uri="{BB962C8B-B14F-4D97-AF65-F5344CB8AC3E}">
        <p14:creationId xmlns:p14="http://schemas.microsoft.com/office/powerpoint/2010/main" val="916410896"/>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9ED3C6-38D4-4243-90FD-4363C201FCAE}"/>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B"/>
                </a:solidFill>
                <a:latin typeface="Arial"/>
                <a:ea typeface="Arial"/>
                <a:cs typeface="Arial"/>
              </a:defRPr>
            </a:pPr>
            <a:r>
              <a:rPr sz="3225" b="1">
                <a:solidFill>
                  <a:srgbClr val="17334B"/>
                </a:solidFill>
                <a:latin typeface="Arial"/>
                <a:ea typeface="Arial"/>
                <a:cs typeface="Arial"/>
              </a:rPr>
              <a:t>Công việc còn lại</a:t>
            </a:r>
          </a:p>
        </p:txBody>
      </p:sp>
      <p:sp>
        <p:nvSpPr>
          <p:cNvPr id="2" name="">
            <a:extLst xmlns:a="http://schemas.openxmlformats.org/drawingml/2006/main">
              <a:ext uri="{FF2B5EF4-FFF2-40B4-BE49-F238E27FC236}">
                <a16:creationId xmlns:a16="http://schemas.microsoft.com/office/drawing/2014/main" id="{48F4637B-792C-4BEC-B146-143B5760CFB9}"/>
              </a:ext>
            </a:extLst>
          </p:cNvPr>
          <p:cNvSpPr>
            <a:spLocks xmlns:a="http://schemas.openxmlformats.org/drawingml/2006/main" noGrp="1"/>
          </p:cNvSpPr>
          <p:nvPr/>
        </p:nvSpPr>
        <p:spPr>
          <a:xfrm xmlns:a="http://schemas.openxmlformats.org/drawingml/2006/main">
            <a:off x="723900" y="16478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Hoàn tất quyền truy cập và bổ sung split train</a:t>
            </a:r>
          </a:p>
        </p:txBody>
      </p:sp>
      <p:sp>
        <p:nvSpPr>
          <p:cNvPr id="3" name="">
            <a:extLst xmlns:a="http://schemas.openxmlformats.org/drawingml/2006/main">
              <a:ext uri="{FF2B5EF4-FFF2-40B4-BE49-F238E27FC236}">
                <a16:creationId xmlns:a16="http://schemas.microsoft.com/office/drawing/2014/main" id="{E93706A1-9B3F-4E10-BD1B-7A323F8F765E}"/>
              </a:ext>
            </a:extLst>
          </p:cNvPr>
          <p:cNvSpPr>
            <a:spLocks xmlns:a="http://schemas.openxmlformats.org/drawingml/2006/main" noGrp="1"/>
          </p:cNvSpPr>
          <p:nvPr/>
        </p:nvSpPr>
        <p:spPr>
          <a:xfrm xmlns:a="http://schemas.openxmlformats.org/drawingml/2006/main">
            <a:off x="723900" y="25241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Chạy EDA, ba mô hình và xem khoảng 100 lỗi validation</a:t>
            </a:r>
          </a:p>
        </p:txBody>
      </p:sp>
      <p:sp>
        <p:nvSpPr>
          <p:cNvPr id="4" name="">
            <a:extLst xmlns:a="http://schemas.openxmlformats.org/drawingml/2006/main">
              <a:ext uri="{FF2B5EF4-FFF2-40B4-BE49-F238E27FC236}">
                <a16:creationId xmlns:a16="http://schemas.microsoft.com/office/drawing/2014/main" id="{C0653D6F-12C5-40F4-B613-883277421CCA}"/>
              </a:ext>
            </a:extLst>
          </p:cNvPr>
          <p:cNvSpPr>
            <a:spLocks xmlns:a="http://schemas.openxmlformats.org/drawingml/2006/main" noGrp="1"/>
          </p:cNvSpPr>
          <p:nvPr/>
        </p:nvSpPr>
        <p:spPr>
          <a:xfrm xmlns:a="http://schemas.openxmlformats.org/drawingml/2006/main">
            <a:off x="723900" y="34004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Khóa pipeline rồi đánh giá test và bất định</a:t>
            </a:r>
          </a:p>
        </p:txBody>
      </p:sp>
      <p:sp>
        <p:nvSpPr>
          <p:cNvPr id="5" name="">
            <a:extLst xmlns:a="http://schemas.openxmlformats.org/drawingml/2006/main">
              <a:ext uri="{FF2B5EF4-FFF2-40B4-BE49-F238E27FC236}">
                <a16:creationId xmlns:a16="http://schemas.microsoft.com/office/drawing/2014/main" id="{F2071E86-E156-493F-8BAF-7F7FF77794FA}"/>
              </a:ext>
            </a:extLst>
          </p:cNvPr>
          <p:cNvSpPr>
            <a:spLocks xmlns:a="http://schemas.openxmlformats.org/drawingml/2006/main" noGrp="1"/>
          </p:cNvSpPr>
          <p:nvPr/>
        </p:nvSpPr>
        <p:spPr>
          <a:xfrm xmlns:a="http://schemas.openxmlformats.org/drawingml/2006/main">
            <a:off x="723900" y="4276725"/>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B"/>
                </a:solidFill>
                <a:latin typeface="Arial"/>
                <a:ea typeface="Arial"/>
                <a:cs typeface="Arial"/>
              </a:defRPr>
            </a:pPr>
            <a:r>
              <a:rPr sz="2250" b="0">
                <a:solidFill>
                  <a:srgbClr val="17334B"/>
                </a:solidFill>
                <a:latin typeface="Arial"/>
                <a:ea typeface="Arial"/>
                <a:cs typeface="Arial"/>
              </a:rPr>
              <a:t>Hoàn thiện Word, notebook có output, slide và demo</a:t>
            </a:r>
          </a:p>
        </p:txBody>
      </p:sp>
      <p:sp>
        <p:nvSpPr>
          <p:cNvPr id="6" name="">
            <a:extLst xmlns:a="http://schemas.openxmlformats.org/drawingml/2006/main">
              <a:ext uri="{FF2B5EF4-FFF2-40B4-BE49-F238E27FC236}">
                <a16:creationId xmlns:a16="http://schemas.microsoft.com/office/drawing/2014/main" id="{A7391B81-FDD1-4512-8851-525A4928C7D5}"/>
              </a:ext>
            </a:extLst>
          </p:cNvPr>
          <p:cNvSpPr>
            <a:spLocks xmlns:a="http://schemas.openxmlformats.org/drawingml/2006/main" noGrp="1"/>
          </p:cNvSpPr>
          <p:nvPr/>
        </p:nvSpPr>
        <p:spPr>
          <a:xfrm xmlns:a="http://schemas.openxmlformats.org/drawingml/2006/main">
            <a:off x="704850" y="5600700"/>
            <a:ext cx="10734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55D6F"/>
                </a:solidFill>
                <a:latin typeface="Arial"/>
                <a:ea typeface="Arial"/>
                <a:cs typeface="Arial"/>
              </a:defRPr>
            </a:pPr>
            <a:r>
              <a:rPr sz="1800" b="0">
                <a:solidFill>
                  <a:srgbClr val="455D6F"/>
                </a:solidFill>
                <a:latin typeface="Arial"/>
                <a:ea typeface="Arial"/>
                <a:cs typeface="Arial"/>
              </a:rPr>
              <a:t>Mẫu tổng hợp chỉ kiểm tra phần mềm. Chưa có kết luận học thuật về độ chính xác của ba mô hình.</a:t>
            </a:r>
          </a:p>
        </p:txBody>
      </p:sp>
    </p:spTree>
    <p:extLst>
      <p:ext uri="{BB962C8B-B14F-4D97-AF65-F5344CB8AC3E}">
        <p14:creationId xmlns:p14="http://schemas.microsoft.com/office/powerpoint/2010/main" val="862957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2026-09-20T16:52:28.2410000Z</dcterms:created>
  <dcterms:modified xsi:type="dcterms:W3CDTF">2026-09-20T16:52:28.2410000Z</dcterms:modified>
</coreProperties>
</file>